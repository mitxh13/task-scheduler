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66" r:id="rId14"/>
    <p:sldId id="267" r:id="rId15"/>
  </p:sldIdLst>
  <p:sldSz cx="18288000" cy="10287000"/>
  <p:notesSz cx="6858000" cy="9144000"/>
  <p:embeddedFontLst>
    <p:embeddedFont>
      <p:font typeface="Open Sans" panose="020B0606030504020204" pitchFamily="34" charset="0"/>
      <p:regular r:id="rId16"/>
    </p:embeddedFont>
    <p:embeddedFont>
      <p:font typeface="Open Sans Bold" panose="020B0604020202020204" charset="0"/>
      <p:regular r:id="rId17"/>
    </p:embeddedFont>
    <p:embeddedFont>
      <p:font typeface="Open Sans Bold Italics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7430289"/>
            <a:ext cx="16230600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Real-Time Task Management System with Auto-Completion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844290"/>
            <a:ext cx="16230600" cy="2693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560"/>
              </a:lnSpc>
            </a:pPr>
            <a:r>
              <a:rPr lang="en-US" sz="96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Task Scheduler using Min Heap in 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28700"/>
            <a:ext cx="6606338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8000" b="1" u="sng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77635" y="2366010"/>
            <a:ext cx="16581665" cy="7364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06780" lvl="1" indent="-453390" algn="l">
              <a:lnSpc>
                <a:spcPts val="840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Task Scheduler helps manage and execute tasks efficiently.</a:t>
            </a:r>
          </a:p>
          <a:p>
            <a:pPr marL="906780" lvl="1" indent="-453390" algn="l">
              <a:lnSpc>
                <a:spcPts val="840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This project implements a real-time scheduler that:</a:t>
            </a:r>
          </a:p>
          <a:p>
            <a:pPr marL="906780" lvl="1" indent="-453390" algn="l">
              <a:lnSpc>
                <a:spcPts val="840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Adds and manages tasks.</a:t>
            </a:r>
          </a:p>
          <a:p>
            <a:pPr marL="906780" lvl="1" indent="-453390" algn="l">
              <a:lnSpc>
                <a:spcPts val="840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Automatically completes tasks after a time limit.</a:t>
            </a:r>
          </a:p>
          <a:p>
            <a:pPr marL="906780" lvl="1" indent="-453390" algn="l">
              <a:lnSpc>
                <a:spcPts val="840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Allows updating, canceling, or marking tasks manually.</a:t>
            </a:r>
          </a:p>
          <a:p>
            <a:pPr marL="906780" lvl="1" indent="-453390" algn="l">
              <a:lnSpc>
                <a:spcPts val="840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scheduling logic is based on a Min Heap data structure.</a:t>
            </a:r>
          </a:p>
          <a:p>
            <a:pPr algn="l">
              <a:lnSpc>
                <a:spcPts val="8400"/>
              </a:lnSpc>
            </a:pPr>
            <a:endParaRPr lang="en-US" sz="42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712371" y="1711606"/>
            <a:ext cx="10863257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n-US" sz="8000" b="1" u="sng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Objective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34798" y="6134079"/>
            <a:ext cx="4580058" cy="2339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4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Implement an efficient task scheduling system in C.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47211" y="6134079"/>
            <a:ext cx="5393577" cy="2920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4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Handle automatic task completion based on real-time tracking.</a:t>
            </a:r>
          </a:p>
          <a:p>
            <a:pPr algn="ctr">
              <a:lnSpc>
                <a:spcPts val="4620"/>
              </a:lnSpc>
              <a:spcBef>
                <a:spcPct val="0"/>
              </a:spcBef>
            </a:pPr>
            <a:endParaRPr lang="en-US" sz="42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2073145" y="6134079"/>
            <a:ext cx="4580058" cy="2339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2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Support manual operations like update, cancel, and serve.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3305195" y="4166846"/>
            <a:ext cx="1239263" cy="1239263"/>
            <a:chOff x="0" y="0"/>
            <a:chExt cx="6350000" cy="635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3305195" y="4074833"/>
            <a:ext cx="1239263" cy="119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0047"/>
              </a:lnSpc>
              <a:spcBef>
                <a:spcPct val="0"/>
              </a:spcBef>
            </a:pPr>
            <a:r>
              <a:rPr lang="en-US" sz="6399" b="1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524368" y="4166846"/>
            <a:ext cx="1239263" cy="1239263"/>
            <a:chOff x="0" y="0"/>
            <a:chExt cx="6350000" cy="6350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8524368" y="4074833"/>
            <a:ext cx="1239263" cy="119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0047"/>
              </a:lnSpc>
              <a:spcBef>
                <a:spcPct val="0"/>
              </a:spcBef>
            </a:pPr>
            <a:r>
              <a:rPr lang="en-US" sz="6399" b="1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3743542" y="4166846"/>
            <a:ext cx="1239263" cy="1239263"/>
            <a:chOff x="0" y="0"/>
            <a:chExt cx="6350000" cy="6350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13743542" y="4074833"/>
            <a:ext cx="1239263" cy="119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0047"/>
              </a:lnSpc>
              <a:spcBef>
                <a:spcPct val="0"/>
              </a:spcBef>
            </a:pPr>
            <a:r>
              <a:rPr lang="en-US" sz="6399" b="1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17423" y="1262760"/>
            <a:ext cx="14691254" cy="1457325"/>
            <a:chOff x="0" y="0"/>
            <a:chExt cx="19588339" cy="19431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19588339" cy="1533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9000"/>
                </a:lnSpc>
                <a:spcBef>
                  <a:spcPct val="0"/>
                </a:spcBef>
              </a:pPr>
              <a:r>
                <a:rPr lang="en-US" sz="7500" b="1" u="sng" strike="noStrik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Features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584325"/>
              <a:ext cx="19588339" cy="3587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8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task scheduler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790275" y="5076825"/>
            <a:ext cx="2669633" cy="1264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4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Add new tasks with ID, time, and description.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790275" y="7533834"/>
            <a:ext cx="2669633" cy="836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4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Manually mark or cancel tasks.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809184" y="5076825"/>
            <a:ext cx="2669633" cy="1693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4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View all tasks with their status (Pending/Completed).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809184" y="7533834"/>
            <a:ext cx="2669633" cy="1729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24"/>
              </a:lnSpc>
              <a:spcBef>
                <a:spcPct val="0"/>
              </a:spcBef>
            </a:pPr>
            <a:r>
              <a:rPr lang="en-US" sz="23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Update submission time for any existing task.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831491" y="5076825"/>
            <a:ext cx="2669633" cy="1264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4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Automatically mark tasks as completed after a time.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831491" y="7533834"/>
            <a:ext cx="2669633" cy="1293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5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Menu-driven, real-time console interface.</a:t>
            </a:r>
          </a:p>
        </p:txBody>
      </p:sp>
      <p:sp>
        <p:nvSpPr>
          <p:cNvPr id="11" name="Freeform 11"/>
          <p:cNvSpPr/>
          <p:nvPr/>
        </p:nvSpPr>
        <p:spPr>
          <a:xfrm>
            <a:off x="8667557" y="3455350"/>
            <a:ext cx="952886" cy="952886"/>
          </a:xfrm>
          <a:custGeom>
            <a:avLst/>
            <a:gdLst/>
            <a:ahLst/>
            <a:cxnLst/>
            <a:rect l="l" t="t" r="r" b="b"/>
            <a:pathLst>
              <a:path w="952886" h="952886">
                <a:moveTo>
                  <a:pt x="0" y="0"/>
                </a:moveTo>
                <a:lnTo>
                  <a:pt x="952886" y="0"/>
                </a:lnTo>
                <a:lnTo>
                  <a:pt x="952886" y="952885"/>
                </a:lnTo>
                <a:lnTo>
                  <a:pt x="0" y="9528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403703" y="299122"/>
            <a:ext cx="4978896" cy="92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49"/>
              </a:lnSpc>
              <a:spcBef>
                <a:spcPct val="0"/>
              </a:spcBef>
            </a:pPr>
            <a:r>
              <a:rPr lang="en-US" sz="5099" b="1" u="sng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Why Min Heap?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89180" y="8527803"/>
            <a:ext cx="11202516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9"/>
              </a:lnSpc>
              <a:spcBef>
                <a:spcPct val="0"/>
              </a:spcBef>
            </a:pPr>
            <a:r>
              <a:rPr lang="en-US" sz="22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Min Heap ensures tasks are managed in increasing order of submission time.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63AFA3-9135-D43E-3E59-CB0D8D7C9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702" y="1605295"/>
            <a:ext cx="15013557" cy="69225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96570" y="4025797"/>
            <a:ext cx="3388048" cy="4359851"/>
            <a:chOff x="0" y="0"/>
            <a:chExt cx="3133810" cy="40326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33810" cy="4032690"/>
            </a:xfrm>
            <a:custGeom>
              <a:avLst/>
              <a:gdLst/>
              <a:ahLst/>
              <a:cxnLst/>
              <a:rect l="l" t="t" r="r" b="b"/>
              <a:pathLst>
                <a:path w="3133810" h="4032690">
                  <a:moveTo>
                    <a:pt x="3009350" y="4032689"/>
                  </a:moveTo>
                  <a:lnTo>
                    <a:pt x="124460" y="4032689"/>
                  </a:lnTo>
                  <a:cubicBezTo>
                    <a:pt x="55880" y="4032689"/>
                    <a:pt x="0" y="3976809"/>
                    <a:pt x="0" y="390822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09350" y="0"/>
                  </a:lnTo>
                  <a:cubicBezTo>
                    <a:pt x="3077930" y="0"/>
                    <a:pt x="3133810" y="55880"/>
                    <a:pt x="3133810" y="124460"/>
                  </a:cubicBezTo>
                  <a:lnTo>
                    <a:pt x="3133810" y="3908229"/>
                  </a:lnTo>
                  <a:cubicBezTo>
                    <a:pt x="3133810" y="3976809"/>
                    <a:pt x="3077930" y="4032690"/>
                    <a:pt x="3009350" y="403269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3189867" y="4025797"/>
            <a:ext cx="3388048" cy="4359851"/>
            <a:chOff x="0" y="0"/>
            <a:chExt cx="3133810" cy="40326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133810" cy="4032690"/>
            </a:xfrm>
            <a:custGeom>
              <a:avLst/>
              <a:gdLst/>
              <a:ahLst/>
              <a:cxnLst/>
              <a:rect l="l" t="t" r="r" b="b"/>
              <a:pathLst>
                <a:path w="3133810" h="4032690">
                  <a:moveTo>
                    <a:pt x="3009350" y="4032689"/>
                  </a:moveTo>
                  <a:lnTo>
                    <a:pt x="124460" y="4032689"/>
                  </a:lnTo>
                  <a:cubicBezTo>
                    <a:pt x="55880" y="4032689"/>
                    <a:pt x="0" y="3976809"/>
                    <a:pt x="0" y="390822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09350" y="0"/>
                  </a:lnTo>
                  <a:cubicBezTo>
                    <a:pt x="3077930" y="0"/>
                    <a:pt x="3133810" y="55880"/>
                    <a:pt x="3133810" y="124460"/>
                  </a:cubicBezTo>
                  <a:lnTo>
                    <a:pt x="3133810" y="3908229"/>
                  </a:lnTo>
                  <a:cubicBezTo>
                    <a:pt x="3133810" y="3976809"/>
                    <a:pt x="3077930" y="4032690"/>
                    <a:pt x="3009350" y="403269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7359417" y="4025797"/>
            <a:ext cx="3388048" cy="4359851"/>
            <a:chOff x="0" y="0"/>
            <a:chExt cx="3133810" cy="403268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133810" cy="4032690"/>
            </a:xfrm>
            <a:custGeom>
              <a:avLst/>
              <a:gdLst/>
              <a:ahLst/>
              <a:cxnLst/>
              <a:rect l="l" t="t" r="r" b="b"/>
              <a:pathLst>
                <a:path w="3133810" h="4032690">
                  <a:moveTo>
                    <a:pt x="3009350" y="4032689"/>
                  </a:moveTo>
                  <a:lnTo>
                    <a:pt x="124460" y="4032689"/>
                  </a:lnTo>
                  <a:cubicBezTo>
                    <a:pt x="55880" y="4032689"/>
                    <a:pt x="0" y="3976809"/>
                    <a:pt x="0" y="390822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09350" y="0"/>
                  </a:lnTo>
                  <a:cubicBezTo>
                    <a:pt x="3077930" y="0"/>
                    <a:pt x="3133810" y="55880"/>
                    <a:pt x="3133810" y="124460"/>
                  </a:cubicBezTo>
                  <a:lnTo>
                    <a:pt x="3133810" y="3908229"/>
                  </a:lnTo>
                  <a:cubicBezTo>
                    <a:pt x="3133810" y="3976809"/>
                    <a:pt x="3077930" y="4032690"/>
                    <a:pt x="3009350" y="403269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3712371" y="1898841"/>
            <a:ext cx="10863257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n-US" sz="8000" b="1" u="sng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System Architecture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25717" y="5114925"/>
            <a:ext cx="2929755" cy="2245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88"/>
              </a:lnSpc>
              <a:spcBef>
                <a:spcPct val="0"/>
              </a:spcBef>
            </a:pPr>
            <a:r>
              <a:rPr lang="en-US" sz="3453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main.c → User interface &amp; menu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21039" y="4120127"/>
            <a:ext cx="731749" cy="669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5652"/>
              </a:lnSpc>
              <a:spcBef>
                <a:spcPct val="0"/>
              </a:spcBef>
            </a:pPr>
            <a:r>
              <a:rPr lang="en-US" sz="3600" b="1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65130" y="5196162"/>
            <a:ext cx="2715079" cy="2083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60"/>
              </a:lnSpc>
              <a:spcBef>
                <a:spcPct val="0"/>
              </a:spcBef>
            </a:pPr>
            <a:r>
              <a:rPr lang="en-US" sz="3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scheduler.c → Heap operations &amp; task logic.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786461" y="4120127"/>
            <a:ext cx="731749" cy="669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5652"/>
              </a:lnSpc>
              <a:spcBef>
                <a:spcPct val="0"/>
              </a:spcBef>
            </a:pPr>
            <a:r>
              <a:rPr lang="en-US" sz="3600" b="1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500190" y="5114925"/>
            <a:ext cx="2715079" cy="200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30"/>
              </a:lnSpc>
              <a:spcBef>
                <a:spcPct val="0"/>
              </a:spcBef>
            </a:pPr>
            <a:r>
              <a:rPr lang="en-US" sz="31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scheduler.h → Structure &amp; function declarations.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634182" y="4120127"/>
            <a:ext cx="731749" cy="669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5652"/>
              </a:lnSpc>
              <a:spcBef>
                <a:spcPct val="0"/>
              </a:spcBef>
            </a:pPr>
            <a:r>
              <a:rPr lang="en-US" sz="3600" b="1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56143" y="4120127"/>
            <a:ext cx="731749" cy="669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5652"/>
              </a:lnSpc>
              <a:spcBef>
                <a:spcPct val="0"/>
              </a:spcBef>
            </a:pPr>
            <a:r>
              <a:rPr lang="en-US" sz="3600" b="1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22744" y="1746296"/>
            <a:ext cx="14442513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n-US" sz="8000" b="1" u="sng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 Structures Used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344840" y="4380184"/>
            <a:ext cx="6799160" cy="5208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9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1️⃣ Task St</a:t>
            </a:r>
            <a:r>
              <a:rPr lang="en-US" sz="27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ructure</a:t>
            </a:r>
          </a:p>
          <a:p>
            <a:pPr marL="0" lvl="0" indent="0" algn="l">
              <a:lnSpc>
                <a:spcPts val="4199"/>
              </a:lnSpc>
              <a:spcBef>
                <a:spcPct val="0"/>
              </a:spcBef>
            </a:pPr>
            <a:endParaRPr lang="en-US" sz="2799" u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>
              <a:lnSpc>
                <a:spcPts val="4199"/>
              </a:lnSpc>
              <a:spcBef>
                <a:spcPct val="0"/>
              </a:spcBef>
            </a:pPr>
            <a:r>
              <a:rPr lang="en-US" sz="27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typedef struct {</a:t>
            </a:r>
          </a:p>
          <a:p>
            <a:pPr marL="0" lvl="0" indent="0" algn="l">
              <a:lnSpc>
                <a:spcPts val="4199"/>
              </a:lnSpc>
              <a:spcBef>
                <a:spcPct val="0"/>
              </a:spcBef>
            </a:pPr>
            <a:r>
              <a:rPr lang="en-US" sz="27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int taskId;</a:t>
            </a:r>
          </a:p>
          <a:p>
            <a:pPr marL="0" lvl="0" indent="0" algn="l">
              <a:lnSpc>
                <a:spcPts val="4199"/>
              </a:lnSpc>
              <a:spcBef>
                <a:spcPct val="0"/>
              </a:spcBef>
            </a:pPr>
            <a:r>
              <a:rPr lang="en-US" sz="27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int submissionTime;</a:t>
            </a:r>
          </a:p>
          <a:p>
            <a:pPr marL="0" lvl="0" indent="0" algn="l">
              <a:lnSpc>
                <a:spcPts val="4199"/>
              </a:lnSpc>
              <a:spcBef>
                <a:spcPct val="0"/>
              </a:spcBef>
            </a:pPr>
            <a:r>
              <a:rPr lang="en-US" sz="27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char details[100];</a:t>
            </a:r>
          </a:p>
          <a:p>
            <a:pPr marL="0" lvl="0" indent="0" algn="l">
              <a:lnSpc>
                <a:spcPts val="4199"/>
              </a:lnSpc>
              <a:spcBef>
                <a:spcPct val="0"/>
              </a:spcBef>
            </a:pPr>
            <a:r>
              <a:rPr lang="en-US" sz="27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int completed;</a:t>
            </a:r>
          </a:p>
          <a:p>
            <a:pPr marL="0" lvl="0" indent="0" algn="l">
              <a:lnSpc>
                <a:spcPts val="4199"/>
              </a:lnSpc>
              <a:spcBef>
                <a:spcPct val="0"/>
              </a:spcBef>
            </a:pPr>
            <a:r>
              <a:rPr lang="en-US" sz="27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time_t startTime;</a:t>
            </a:r>
          </a:p>
          <a:p>
            <a:pPr marL="0" lvl="0" indent="0" algn="l">
              <a:lnSpc>
                <a:spcPts val="4199"/>
              </a:lnSpc>
              <a:spcBef>
                <a:spcPct val="0"/>
              </a:spcBef>
            </a:pPr>
            <a:r>
              <a:rPr lang="en-US" sz="27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} Task;</a:t>
            </a:r>
          </a:p>
          <a:p>
            <a:pPr marL="0" lvl="0" indent="0" algn="l">
              <a:lnSpc>
                <a:spcPts val="4199"/>
              </a:lnSpc>
              <a:spcBef>
                <a:spcPct val="0"/>
              </a:spcBef>
            </a:pPr>
            <a:endParaRPr lang="en-US" sz="2799" u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460140" y="4380184"/>
            <a:ext cx="6799160" cy="4684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2️⃣ Min Heap Structure</a:t>
            </a:r>
          </a:p>
          <a:p>
            <a:pPr algn="l">
              <a:lnSpc>
                <a:spcPts val="4199"/>
              </a:lnSpc>
            </a:pPr>
            <a:endParaRPr lang="en-US" sz="279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typedef struct {</a:t>
            </a:r>
          </a:p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Task **arr;</a:t>
            </a:r>
          </a:p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int size;</a:t>
            </a:r>
          </a:p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int capacity;</a:t>
            </a:r>
          </a:p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int *indexMap;</a:t>
            </a:r>
          </a:p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} MinHeap</a:t>
            </a:r>
          </a:p>
          <a:p>
            <a:pPr marL="0" lvl="0" indent="0" algn="l">
              <a:lnSpc>
                <a:spcPts val="4199"/>
              </a:lnSpc>
              <a:spcBef>
                <a:spcPct val="0"/>
              </a:spcBef>
            </a:pPr>
            <a:endParaRPr lang="en-US" sz="279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47846" y="3240040"/>
            <a:ext cx="16611454" cy="2821940"/>
            <a:chOff x="0" y="0"/>
            <a:chExt cx="22148606" cy="3762587"/>
          </a:xfrm>
        </p:grpSpPr>
        <p:sp>
          <p:nvSpPr>
            <p:cNvPr id="3" name="AutoShape 3"/>
            <p:cNvSpPr/>
            <p:nvPr/>
          </p:nvSpPr>
          <p:spPr>
            <a:xfrm>
              <a:off x="0" y="241300"/>
              <a:ext cx="21424900" cy="0"/>
            </a:xfrm>
            <a:prstGeom prst="line">
              <a:avLst/>
            </a:prstGeom>
            <a:ln w="25400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4" name="Group 4"/>
            <p:cNvGrpSpPr/>
            <p:nvPr/>
          </p:nvGrpSpPr>
          <p:grpSpPr>
            <a:xfrm>
              <a:off x="507806" y="12700"/>
              <a:ext cx="431800" cy="431800"/>
              <a:chOff x="0" y="0"/>
              <a:chExt cx="6350000" cy="63500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6" name="Group 6"/>
            <p:cNvGrpSpPr/>
            <p:nvPr/>
          </p:nvGrpSpPr>
          <p:grpSpPr>
            <a:xfrm>
              <a:off x="6225884" y="0"/>
              <a:ext cx="431800" cy="431800"/>
              <a:chOff x="0" y="0"/>
              <a:chExt cx="6350000" cy="63500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8" name="Group 8"/>
            <p:cNvGrpSpPr/>
            <p:nvPr/>
          </p:nvGrpSpPr>
          <p:grpSpPr>
            <a:xfrm>
              <a:off x="11943962" y="0"/>
              <a:ext cx="431800" cy="431800"/>
              <a:chOff x="0" y="0"/>
              <a:chExt cx="6350000" cy="6350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10" name="Group 10"/>
            <p:cNvGrpSpPr/>
            <p:nvPr/>
          </p:nvGrpSpPr>
          <p:grpSpPr>
            <a:xfrm>
              <a:off x="17662040" y="0"/>
              <a:ext cx="431800" cy="431800"/>
              <a:chOff x="0" y="0"/>
              <a:chExt cx="6350000" cy="6350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507806" y="1343025"/>
              <a:ext cx="4486566" cy="12003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39"/>
                </a:lnSpc>
                <a:spcBef>
                  <a:spcPct val="0"/>
                </a:spcBef>
              </a:pPr>
              <a:r>
                <a:rPr lang="en-US" sz="2799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Step 1: Add a task → stored in heap.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25884" y="1343025"/>
              <a:ext cx="4486566" cy="12003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39"/>
                </a:lnSpc>
                <a:spcBef>
                  <a:spcPct val="0"/>
                </a:spcBef>
              </a:pPr>
              <a:r>
                <a:rPr lang="en-US" sz="2799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Step 2: Timer starts (startTime).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943962" y="1343025"/>
              <a:ext cx="4486566" cy="24195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39"/>
                </a:lnSpc>
                <a:spcBef>
                  <a:spcPct val="0"/>
                </a:spcBef>
              </a:pPr>
              <a:r>
                <a:rPr lang="en-US" sz="2799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Step 3: Every few seconds, system checks elapsed time.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662040" y="1343025"/>
              <a:ext cx="4486566" cy="24195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39"/>
                </a:lnSpc>
                <a:spcBef>
                  <a:spcPct val="0"/>
                </a:spcBef>
              </a:pPr>
              <a:r>
                <a:rPr lang="en-US" sz="2799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Step 4: If elapsed ≥ submissionTime → marked Completed.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28700" y="1028700"/>
            <a:ext cx="16230600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8000" b="1" u="sng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Working Principle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8665718"/>
            <a:ext cx="12335024" cy="592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24"/>
              </a:lnSpc>
              <a:spcBef>
                <a:spcPct val="0"/>
              </a:spcBef>
            </a:pPr>
            <a:r>
              <a:rPr lang="en-US" sz="3200" b="1" i="1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note : User can also manually complete, update, or cancel tasks.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66800" y="619569"/>
            <a:ext cx="6232704" cy="803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99"/>
              </a:lnSpc>
              <a:spcBef>
                <a:spcPct val="0"/>
              </a:spcBef>
            </a:pPr>
            <a:r>
              <a:rPr lang="en-US" sz="4999" b="1" u="sng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Major Functions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E05527-66FD-34E9-A828-94746E41F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896" y="1638300"/>
            <a:ext cx="15452904" cy="762749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840640" y="1028700"/>
            <a:ext cx="1418660" cy="8229600"/>
            <a:chOff x="0" y="0"/>
            <a:chExt cx="1891546" cy="10972800"/>
          </a:xfrm>
        </p:grpSpPr>
        <p:grpSp>
          <p:nvGrpSpPr>
            <p:cNvPr id="3" name="Group 3"/>
            <p:cNvGrpSpPr>
              <a:grpSpLocks noChangeAspect="1"/>
            </p:cNvGrpSpPr>
            <p:nvPr/>
          </p:nvGrpSpPr>
          <p:grpSpPr>
            <a:xfrm rot="-10800000">
              <a:off x="0" y="6810940"/>
              <a:ext cx="1891546" cy="1891546"/>
              <a:chOff x="0" y="0"/>
              <a:chExt cx="1708150" cy="170815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708150" cy="1708150"/>
              </a:xfrm>
              <a:custGeom>
                <a:avLst/>
                <a:gdLst/>
                <a:ahLst/>
                <a:cxnLst/>
                <a:rect l="l" t="t" r="r" b="b"/>
                <a:pathLst>
                  <a:path w="1708150" h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id="5" name="Freeform 5"/>
            <p:cNvSpPr/>
            <p:nvPr/>
          </p:nvSpPr>
          <p:spPr>
            <a:xfrm rot="-10800000">
              <a:off x="0" y="9081254"/>
              <a:ext cx="1891546" cy="1891546"/>
            </a:xfrm>
            <a:custGeom>
              <a:avLst/>
              <a:gdLst/>
              <a:ahLst/>
              <a:cxnLst/>
              <a:rect l="l" t="t" r="r" b="b"/>
              <a:pathLst>
                <a:path w="1891546" h="1891546">
                  <a:moveTo>
                    <a:pt x="0" y="0"/>
                  </a:moveTo>
                  <a:lnTo>
                    <a:pt x="1891546" y="0"/>
                  </a:lnTo>
                  <a:lnTo>
                    <a:pt x="1891546" y="1891546"/>
                  </a:lnTo>
                  <a:lnTo>
                    <a:pt x="0" y="18915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6" name="Group 6"/>
            <p:cNvGrpSpPr>
              <a:grpSpLocks noChangeAspect="1"/>
            </p:cNvGrpSpPr>
            <p:nvPr/>
          </p:nvGrpSpPr>
          <p:grpSpPr>
            <a:xfrm rot="-10800000">
              <a:off x="0" y="2270313"/>
              <a:ext cx="1891546" cy="1891546"/>
              <a:chOff x="0" y="0"/>
              <a:chExt cx="1708150" cy="170815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708150" cy="1708150"/>
              </a:xfrm>
              <a:custGeom>
                <a:avLst/>
                <a:gdLst/>
                <a:ahLst/>
                <a:cxnLst/>
                <a:rect l="l" t="t" r="r" b="b"/>
                <a:pathLst>
                  <a:path w="1708150" h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id="8" name="Freeform 8"/>
            <p:cNvSpPr/>
            <p:nvPr/>
          </p:nvSpPr>
          <p:spPr>
            <a:xfrm rot="-10800000">
              <a:off x="0" y="4540627"/>
              <a:ext cx="1891546" cy="1891546"/>
            </a:xfrm>
            <a:custGeom>
              <a:avLst/>
              <a:gdLst/>
              <a:ahLst/>
              <a:cxnLst/>
              <a:rect l="l" t="t" r="r" b="b"/>
              <a:pathLst>
                <a:path w="1891546" h="1891546">
                  <a:moveTo>
                    <a:pt x="0" y="0"/>
                  </a:moveTo>
                  <a:lnTo>
                    <a:pt x="1891546" y="0"/>
                  </a:lnTo>
                  <a:lnTo>
                    <a:pt x="1891546" y="1891546"/>
                  </a:lnTo>
                  <a:lnTo>
                    <a:pt x="0" y="18915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 rot="-10800000">
              <a:off x="0" y="0"/>
              <a:ext cx="1891546" cy="1891546"/>
            </a:xfrm>
            <a:custGeom>
              <a:avLst/>
              <a:gdLst/>
              <a:ahLst/>
              <a:cxnLst/>
              <a:rect l="l" t="t" r="r" b="b"/>
              <a:pathLst>
                <a:path w="1891546" h="1891546">
                  <a:moveTo>
                    <a:pt x="0" y="0"/>
                  </a:moveTo>
                  <a:lnTo>
                    <a:pt x="1891546" y="0"/>
                  </a:lnTo>
                  <a:lnTo>
                    <a:pt x="1891546" y="1891546"/>
                  </a:lnTo>
                  <a:lnTo>
                    <a:pt x="0" y="18915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668572" y="1244170"/>
            <a:ext cx="14800349" cy="7798659"/>
            <a:chOff x="0" y="0"/>
            <a:chExt cx="19733799" cy="10398212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57150"/>
              <a:ext cx="19733799" cy="7764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611"/>
                </a:lnSpc>
              </a:pPr>
              <a:r>
                <a:rPr lang="en-US" sz="5085" b="1" u="sng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Advantages</a:t>
              </a:r>
            </a:p>
            <a:p>
              <a:pPr marL="1098007" lvl="1" indent="-549003" algn="l">
                <a:lnSpc>
                  <a:spcPts val="6611"/>
                </a:lnSpc>
                <a:buAutoNum type="arabicPeriod"/>
              </a:pPr>
              <a:r>
                <a:rPr lang="en-US" sz="5085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Efficient due to Min Heap (logarithmic operations)</a:t>
              </a:r>
            </a:p>
            <a:p>
              <a:pPr marL="1098007" lvl="1" indent="-549003" algn="l">
                <a:lnSpc>
                  <a:spcPts val="6611"/>
                </a:lnSpc>
                <a:buAutoNum type="arabicPeriod"/>
              </a:pPr>
              <a:r>
                <a:rPr lang="en-US" sz="5085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Real-time task tracking using time.h</a:t>
              </a:r>
            </a:p>
            <a:p>
              <a:pPr marL="1098007" lvl="1" indent="-549003" algn="l">
                <a:lnSpc>
                  <a:spcPts val="6611"/>
                </a:lnSpc>
                <a:buAutoNum type="arabicPeriod"/>
              </a:pPr>
              <a:r>
                <a:rPr lang="en-US" sz="5085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User-friendly interface</a:t>
              </a:r>
            </a:p>
            <a:p>
              <a:pPr marL="1098007" lvl="1" indent="-549003" algn="l">
                <a:lnSpc>
                  <a:spcPts val="6611"/>
                </a:lnSpc>
                <a:buAutoNum type="arabicPeriod"/>
              </a:pPr>
              <a:r>
                <a:rPr lang="en-US" sz="5085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Dynamic — supports add/update/delete</a:t>
              </a:r>
            </a:p>
            <a:p>
              <a:pPr marL="1098007" lvl="1" indent="-549003" algn="l">
                <a:lnSpc>
                  <a:spcPts val="6611"/>
                </a:lnSpc>
                <a:buAutoNum type="arabicPeriod"/>
              </a:pPr>
              <a:r>
                <a:rPr lang="en-US" sz="5085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Demonstrates modular programming in C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9770763"/>
              <a:ext cx="19733799" cy="6274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4045"/>
                </a:lnSpc>
              </a:pPr>
              <a:endParaRPr/>
            </a:p>
          </p:txBody>
        </p:sp>
        <p:sp>
          <p:nvSpPr>
            <p:cNvPr id="13" name="AutoShape 13"/>
            <p:cNvSpPr/>
            <p:nvPr/>
          </p:nvSpPr>
          <p:spPr>
            <a:xfrm>
              <a:off x="0" y="8495720"/>
              <a:ext cx="1469853" cy="247582"/>
            </a:xfrm>
            <a:prstGeom prst="rect">
              <a:avLst/>
            </a:prstGeom>
            <a:solidFill>
              <a:srgbClr val="000000"/>
            </a:solidFill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0FAB1C-081F-C547-CE7B-33E7B1CA9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485900"/>
            <a:ext cx="15621000" cy="84494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5479D6-ED6C-41B5-E295-014BD50E9415}"/>
              </a:ext>
            </a:extLst>
          </p:cNvPr>
          <p:cNvSpPr txBox="1"/>
          <p:nvPr/>
        </p:nvSpPr>
        <p:spPr>
          <a:xfrm>
            <a:off x="727364" y="495300"/>
            <a:ext cx="62068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/>
              <a:t>Input/Output </a:t>
            </a:r>
            <a:r>
              <a:rPr lang="en-IN" sz="4400" b="1" u="sng" dirty="0"/>
              <a:t>screenshots </a:t>
            </a:r>
          </a:p>
        </p:txBody>
      </p:sp>
    </p:spTree>
    <p:extLst>
      <p:ext uri="{BB962C8B-B14F-4D97-AF65-F5344CB8AC3E}">
        <p14:creationId xmlns:p14="http://schemas.microsoft.com/office/powerpoint/2010/main" val="1785717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482C09-6282-E908-63AB-B3A55A926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957749" cy="8534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F4D6125-8C29-1192-F3C9-A15650E59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774" y="3442615"/>
            <a:ext cx="11658600" cy="682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0466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957050" y="575691"/>
            <a:ext cx="5019824" cy="820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61"/>
              </a:lnSpc>
              <a:spcBef>
                <a:spcPct val="0"/>
              </a:spcBef>
            </a:pPr>
            <a:r>
              <a:rPr lang="en-US" sz="4829" b="1" u="sng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Division of Work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C8D4DC-2FEA-686C-A3C5-B6F3CCEC4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019300"/>
            <a:ext cx="15671034" cy="7391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0667" y="2057400"/>
            <a:ext cx="6532165" cy="2320801"/>
            <a:chOff x="0" y="0"/>
            <a:chExt cx="8709553" cy="3094401"/>
          </a:xfrm>
        </p:grpSpPr>
        <p:sp>
          <p:nvSpPr>
            <p:cNvPr id="3" name="TextBox 3"/>
            <p:cNvSpPr txBox="1"/>
            <p:nvPr/>
          </p:nvSpPr>
          <p:spPr>
            <a:xfrm>
              <a:off x="0" y="0"/>
              <a:ext cx="8709553" cy="1866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1037"/>
                </a:lnSpc>
              </a:pPr>
              <a:r>
                <a:rPr lang="en-US" sz="9198" b="1" u="sng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Conclusion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403022"/>
              <a:ext cx="8709553" cy="6913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18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456223" y="2057400"/>
            <a:ext cx="9427864" cy="7547081"/>
            <a:chOff x="0" y="0"/>
            <a:chExt cx="12570486" cy="10062775"/>
          </a:xfrm>
        </p:grpSpPr>
        <p:sp>
          <p:nvSpPr>
            <p:cNvPr id="6" name="TextBox 6"/>
            <p:cNvSpPr txBox="1"/>
            <p:nvPr/>
          </p:nvSpPr>
          <p:spPr>
            <a:xfrm>
              <a:off x="1804933" y="70062"/>
              <a:ext cx="10765553" cy="712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522"/>
                </a:lnSpc>
              </a:pPr>
              <a:r>
                <a:rPr lang="en-US" sz="3230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The project successfully demonstrates: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150183" cy="918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426"/>
                </a:lnSpc>
              </a:pPr>
              <a:r>
                <a:rPr lang="en-US" sz="4522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804933" y="2012826"/>
              <a:ext cx="10765553" cy="712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522"/>
                </a:lnSpc>
              </a:pPr>
              <a:r>
                <a:rPr lang="en-US" sz="3230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Real-time scheduling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942764"/>
              <a:ext cx="1150183" cy="918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426"/>
                </a:lnSpc>
              </a:pPr>
              <a:r>
                <a:rPr lang="en-US" sz="4522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03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804933" y="3955591"/>
              <a:ext cx="10765553" cy="712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522"/>
                </a:lnSpc>
              </a:pPr>
              <a:r>
                <a:rPr lang="en-US" sz="3230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Heap-based task management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3885528"/>
              <a:ext cx="1150183" cy="918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426"/>
                </a:lnSpc>
              </a:pPr>
              <a:r>
                <a:rPr lang="en-US" sz="4522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04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04933" y="5898355"/>
              <a:ext cx="10765553" cy="712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522"/>
                </a:lnSpc>
              </a:pPr>
              <a:r>
                <a:rPr lang="en-US" sz="3230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Efficient time-based automation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5828292"/>
              <a:ext cx="1150183" cy="918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426"/>
                </a:lnSpc>
              </a:pPr>
              <a:r>
                <a:rPr lang="en-US" sz="4522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05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04933" y="7841119"/>
              <a:ext cx="10765553" cy="22216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522"/>
                </a:lnSpc>
              </a:pPr>
              <a:r>
                <a:rPr lang="en-US" sz="3230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Provides a strong foundation for more complex schedulers or OS-level task systems.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7771057"/>
              <a:ext cx="1150183" cy="918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426"/>
                </a:lnSpc>
              </a:pPr>
              <a:r>
                <a:rPr lang="en-US" sz="4522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06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400</Words>
  <Application>Microsoft Office PowerPoint</Application>
  <PresentationFormat>Custom</PresentationFormat>
  <Paragraphs>78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Open Sans Bold Italics</vt:lpstr>
      <vt:lpstr>Open Sans</vt:lpstr>
      <vt:lpstr>Open Sans Bold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Page</dc:title>
  <cp:lastModifiedBy>MITESH K</cp:lastModifiedBy>
  <cp:revision>2</cp:revision>
  <dcterms:created xsi:type="dcterms:W3CDTF">2006-08-16T00:00:00Z</dcterms:created>
  <dcterms:modified xsi:type="dcterms:W3CDTF">2025-11-15T04:03:22Z</dcterms:modified>
  <dc:identifier>DAG4QxF25D8</dc:identifier>
</cp:coreProperties>
</file>